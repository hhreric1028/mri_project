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397998b28f40f1" /><Relationship Type="http://schemas.openxmlformats.org/officeDocument/2006/relationships/extended-properties" Target="/docProps/app.xml" Id="R11ccdf0f73274ed2" /><Relationship Type="http://schemas.openxmlformats.org/officeDocument/2006/relationships/officeDocument" Target="/ppt/presentation.xml" Id="R7d4292883e4a4f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c76cf04e614672"/>
  </p:sldMasterIdLst>
  <p:notesMasterIdLst>
    <p:notesMasterId xmlns:r="http://schemas.openxmlformats.org/officeDocument/2006/relationships" r:id="Redb618a6c803465b"/>
  </p:notesMasterIdLst>
  <p:sldIdLst>
    <p:sldId xmlns:r="http://schemas.openxmlformats.org/officeDocument/2006/relationships" id="256" r:id="R8c64d72011054e74"/>
    <p:sldId xmlns:r="http://schemas.openxmlformats.org/officeDocument/2006/relationships" id="257" r:id="Rc5240713afca4f80"/>
    <p:sldId xmlns:r="http://schemas.openxmlformats.org/officeDocument/2006/relationships" id="258" r:id="Rc0240364765c4aef"/>
    <p:sldId xmlns:r="http://schemas.openxmlformats.org/officeDocument/2006/relationships" id="259" r:id="R745f9daaa5334423"/>
    <p:sldId xmlns:r="http://schemas.openxmlformats.org/officeDocument/2006/relationships" id="260" r:id="Ra3d1b69f929641f4"/>
    <p:sldId xmlns:r="http://schemas.openxmlformats.org/officeDocument/2006/relationships" id="261" r:id="Rbc04ca3efb3c47dd"/>
    <p:sldId xmlns:r="http://schemas.openxmlformats.org/officeDocument/2006/relationships" id="262" r:id="R186f0ceef43d4f3e"/>
    <p:sldId xmlns:r="http://schemas.openxmlformats.org/officeDocument/2006/relationships" id="263" r:id="R0980a4ed5b4c4e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9c5d9cd3914efb" /><Relationship Type="http://schemas.openxmlformats.org/officeDocument/2006/relationships/slideMaster" Target="/ppt/slideMasters/slideMaster1.xml" Id="R50c76cf04e614672" /><Relationship Type="http://schemas.openxmlformats.org/officeDocument/2006/relationships/notesMaster" Target="/ppt/notesMasters/notesMaster1.xml" Id="Redb618a6c803465b" /><Relationship Type="http://schemas.openxmlformats.org/officeDocument/2006/relationships/presProps" Target="/ppt/presProps.xml" Id="R25fb294cb0794adc" /><Relationship Type="http://schemas.openxmlformats.org/officeDocument/2006/relationships/tableStyles" Target="/ppt/tableStyles.xml" Id="R37d621919ea1441c" /><Relationship Type="http://schemas.openxmlformats.org/officeDocument/2006/relationships/slide" Target="/ppt/slides/slide1.xml" Id="R8c64d72011054e74" /><Relationship Type="http://schemas.openxmlformats.org/officeDocument/2006/relationships/slide" Target="/ppt/slides/slide2.xml" Id="Rc5240713afca4f80" /><Relationship Type="http://schemas.openxmlformats.org/officeDocument/2006/relationships/slide" Target="/ppt/slides/slide3.xml" Id="Rc0240364765c4aef" /><Relationship Type="http://schemas.openxmlformats.org/officeDocument/2006/relationships/slide" Target="/ppt/slides/slide4.xml" Id="R745f9daaa5334423" /><Relationship Type="http://schemas.openxmlformats.org/officeDocument/2006/relationships/slide" Target="/ppt/slides/slide5.xml" Id="Ra3d1b69f929641f4" /><Relationship Type="http://schemas.openxmlformats.org/officeDocument/2006/relationships/slide" Target="/ppt/slides/slide6.xml" Id="Rbc04ca3efb3c47dd" /><Relationship Type="http://schemas.openxmlformats.org/officeDocument/2006/relationships/slide" Target="/ppt/slides/slide7.xml" Id="R186f0ceef43d4f3e" /><Relationship Type="http://schemas.openxmlformats.org/officeDocument/2006/relationships/slide" Target="/ppt/slides/slide8.xml" Id="R0980a4ed5b4c4e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3112d57fac41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d61846a4fc49e0" /><Relationship Type="http://schemas.openxmlformats.org/officeDocument/2006/relationships/notesMaster" Target="/ppt/notesMasters/notesMaster1.xml" Id="R7d3dbc9267e94e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43637719c34f47" /><Relationship Type="http://schemas.openxmlformats.org/officeDocument/2006/relationships/notesMaster" Target="/ppt/notesMasters/notesMaster1.xml" Id="Rb5de2988fac547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fdb3f8720c49b4" /><Relationship Type="http://schemas.openxmlformats.org/officeDocument/2006/relationships/notesMaster" Target="/ppt/notesMasters/notesMaster1.xml" Id="Rfb1c7ba3f0f647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35c794935e4a0c" /><Relationship Type="http://schemas.openxmlformats.org/officeDocument/2006/relationships/notesMaster" Target="/ppt/notesMasters/notesMaster1.xml" Id="Rb2915529a58848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93eeeacfec4791" /><Relationship Type="http://schemas.openxmlformats.org/officeDocument/2006/relationships/notesMaster" Target="/ppt/notesMasters/notesMaster1.xml" Id="Re621e53c54db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c3cb7ae1aa4e33" /><Relationship Type="http://schemas.openxmlformats.org/officeDocument/2006/relationships/notesMaster" Target="/ppt/notesMasters/notesMaster1.xml" Id="R1208cace98a548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fc2253048a4d79" /><Relationship Type="http://schemas.openxmlformats.org/officeDocument/2006/relationships/notesMaster" Target="/ppt/notesMasters/notesMaster1.xml" Id="R9e366df34eaa40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e33a5787b94e34" /><Relationship Type="http://schemas.openxmlformats.org/officeDocument/2006/relationships/notesMaster" Target="/ppt/notesMasters/notesMaster1.xml" Id="R56d309d604bc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outputs/analysis/B0_full5fold_100/B0_100_OOF_summary.json; experiments/image_enhancement_batch_seed2022/*/metrics/screen100/summary.json. Main comparisons use 100 epochs. No 1000-epoch result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outputs/analysis/B0_full5fold_100/B0_100_OOF_all_cases.csv and B0_100_OOF_summary.json. Fold 0 and Fold 4 each have 49 calculable Dice values because one case has no GT lesion.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Failure counts come from B0_100_OOF_all_cases.csv and may overlap. Representative images use the B0-100 column from existing E3 Fold 0 case panels: case_0068, case_0186 and case_0212.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B0_R2022_screen100 and E1/E2/E3 metrics/screen100/summary.json. Gamma: gamma=1.2. CLAHE: axial slice-wise clip=0.02, kernel 16x16. E3: mild foreground z-score intensity scaling a=0.76, b=0.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C:\Users\User\Desktop\MRI_project_v1\experiments\image_enhancement_batch_seed2022\E3_intensity_scale\case_analysis\screen100\figures\case_0182.png; paired metrics from outputs/presentations/data/Fold0_enhancement_comparison.csv.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C:\Users\User\Desktop\MRI_project_v1\experiments\image_enhancement_batch_seed2022\E3_intensity_scale\case_analysis\screen100\figures\case_0069.png; paired metrics from outputs/presentations/data/Fold0_enhancement_comparison.csv.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C:\Users\User\Desktop\MRI_project_v1\experiments\image_enhancement_batch_seed2022\E3_intensity_scale\case_analysis\screen100\figures\case_0140.png; paired metrics from outputs/presentations/data/Fold0_enhancement_comparison.csv.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is based on B0 full 5-fold OOF results and matched Fold 0 100-epoch enhancement experiments. E3 requires Fold 1-4 training before a generalization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bdf11a92d48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28d567f1c471c" /><Relationship Type="http://schemas.openxmlformats.org/officeDocument/2006/relationships/slideLayout" Target="/ppt/slideLayouts/slideLayout1.xml" Id="R31d8322b9dcc43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d8322b9dcc43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691601dbd4c26" /><Relationship Type="http://schemas.openxmlformats.org/officeDocument/2006/relationships/notesSlide" Target="/ppt/notesSlides/notesSlide1.xml" Id="Rcd92f2e95c424e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6047dc4f640a4" /><Relationship Type="http://schemas.openxmlformats.org/officeDocument/2006/relationships/chart" Target="/ppt/slides/charts/chart1.xml" Id="Rc672591565c544f8" /><Relationship Type="http://schemas.openxmlformats.org/officeDocument/2006/relationships/notesSlide" Target="/ppt/notesSlides/notesSlide2.xml" Id="R2365f9c5d090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393be14114843" /><Relationship Type="http://schemas.openxmlformats.org/officeDocument/2006/relationships/chart" Target="/ppt/slides/charts/chart2.xml" Id="Rf443379713974b4a" /><Relationship Type="http://schemas.openxmlformats.org/officeDocument/2006/relationships/image" Target="/ppt/media/image.png" Id="R183cfbb8dcac4ca7" /><Relationship Type="http://schemas.openxmlformats.org/officeDocument/2006/relationships/image" Target="/ppt/media/image2.png" Id="R6e89350767b04d44" /><Relationship Type="http://schemas.openxmlformats.org/officeDocument/2006/relationships/image" Target="/ppt/media/image3.png" Id="R27139e22de1e4eec" /><Relationship Type="http://schemas.openxmlformats.org/officeDocument/2006/relationships/notesSlide" Target="/ppt/notesSlides/notesSlide3.xml" Id="Rc003b124650143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189cbdb8b4272" /><Relationship Type="http://schemas.openxmlformats.org/officeDocument/2006/relationships/chart" Target="/ppt/slides/charts/chart3.xml" Id="Rde4934ed8ca44c82" /><Relationship Type="http://schemas.openxmlformats.org/officeDocument/2006/relationships/notesSlide" Target="/ppt/notesSlides/notesSlide4.xml" Id="Rd540df5c6a2e47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be7f41b6647ee" /><Relationship Type="http://schemas.openxmlformats.org/officeDocument/2006/relationships/image" Target="/ppt/media/image4.png" Id="R2cd42e66854a429b" /><Relationship Type="http://schemas.openxmlformats.org/officeDocument/2006/relationships/notesSlide" Target="/ppt/notesSlides/notesSlide5.xml" Id="Rbe9df4c2ee384a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72cc4b21b4cd9" /><Relationship Type="http://schemas.openxmlformats.org/officeDocument/2006/relationships/image" Target="/ppt/media/image5.png" Id="R3928c16722aa48e9" /><Relationship Type="http://schemas.openxmlformats.org/officeDocument/2006/relationships/notesSlide" Target="/ppt/notesSlides/notesSlide6.xml" Id="R99234ed6512f40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3140f5e454753" /><Relationship Type="http://schemas.openxmlformats.org/officeDocument/2006/relationships/image" Target="/ppt/media/image6.png" Id="R56226cbe9ba84cfa" /><Relationship Type="http://schemas.openxmlformats.org/officeDocument/2006/relationships/notesSlide" Target="/ppt/notesSlides/notesSlide7.xml" Id="R65e497a45e9241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05cc86a0940ec" /><Relationship Type="http://schemas.openxmlformats.org/officeDocument/2006/relationships/notesSlide" Target="/ppt/notesSlides/notesSlide8.xml" Id="Rfec31fa3b10843e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Dice</c:v>
          </c:tx>
          <c:spPr>
            <a:solidFill xmlns:a="http://schemas.openxmlformats.org/drawingml/2006/main">
              <a:srgbClr val="35D0C9"/>
            </a:solidFill>
          </c:spPr>
          <c:cat>
            <c:strLit>
              <c:ptCount val="5"/>
              <c:pt idx="0">
                <c:v>Fold 0</c:v>
              </c:pt>
              <c:pt idx="1">
                <c:v>Fold 1</c:v>
              </c:pt>
              <c:pt idx="2">
                <c:v>Fold 2</c:v>
              </c:pt>
              <c:pt idx="3">
                <c:v>Fold 3</c:v>
              </c:pt>
              <c:pt idx="4">
                <c:v>Fold 4</c:v>
              </c:pt>
            </c:strLit>
          </c:cat>
          <c:val>
            <c:numLit>
              <c:formatCode>0.00</c:formatCode>
              <c:ptCount val="5"/>
              <c:pt idx="0">
                <c:v>0.764525966878894</c:v>
              </c:pt>
              <c:pt idx="1">
                <c:v>0.7854557372295141</c:v>
              </c:pt>
              <c:pt idx="2">
                <c:v>0.7633098743657928</c:v>
              </c:pt>
              <c:pt idx="3">
                <c:v>0.8051378527748392</c:v>
              </c:pt>
              <c:pt idx="4">
                <c:v>0.7340860482976804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4F7FA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05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  <c:max val="0.82"/>
          <c:min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05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29405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07111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病例數</c:v>
          </c:tx>
          <c:spPr>
            <a:solidFill xmlns:a="http://schemas.openxmlformats.org/drawingml/2006/main">
              <a:srgbClr val="35D0C9"/>
            </a:solidFill>
          </c:spPr>
          <c:cat>
            <c:strLit>
              <c:ptCount val="6"/>
              <c:pt idx="0">
                <c:v>多病灶漏切</c:v>
              </c:pt>
              <c:pt idx="1">
                <c:v>邊界低估</c:v>
              </c:pt>
              <c:pt idx="2">
                <c:v>小病灶漏切</c:v>
              </c:pt>
              <c:pt idx="3">
                <c:v>低信心病灶</c:v>
              </c:pt>
              <c:pt idx="4">
                <c:v>FP 主導</c:v>
              </c:pt>
              <c:pt idx="5">
                <c:v>大型部分覆蓋</c:v>
              </c:pt>
            </c:strLit>
          </c:cat>
          <c:val>
            <c:numLit>
              <c:formatCode>General</c:formatCode>
              <c:ptCount val="6"/>
              <c:pt idx="0">
                <c:v>161</c:v>
              </c:pt>
              <c:pt idx="1">
                <c:v>38</c:v>
              </c:pt>
              <c:pt idx="2">
                <c:v>28</c:v>
              </c:pt>
              <c:pt idx="3">
                <c:v>11</c:v>
              </c:pt>
              <c:pt idx="4">
                <c:v>10</c:v>
              </c:pt>
              <c:pt idx="5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4F7FA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Δ Dice</c:v>
          </c:tx>
          <c:spPr>
            <a:solidFill xmlns:a="http://schemas.openxmlformats.org/drawingml/2006/main">
              <a:srgbClr val="35D0C9"/>
            </a:solidFill>
          </c:spPr>
          <c:invertIfNegative val="0"/>
          <c:cat>
            <c:strLit>
              <c:ptCount val="3"/>
              <c:pt idx="0">
                <c:v>Gamma</c:v>
              </c:pt>
              <c:pt idx="1">
                <c:v>CLAHE</c:v>
              </c:pt>
              <c:pt idx="2">
                <c:v>E3</c:v>
              </c:pt>
            </c:strLit>
          </c:cat>
          <c:val>
            <c:numLit>
              <c:formatCode>0.00</c:formatCode>
              <c:ptCount val="3"/>
              <c:pt idx="0">
                <c:v>0.019173014299082136</c:v>
              </c:pt>
              <c:pt idx="1">
                <c:v>-0.014701798735630045</c:v>
              </c:pt>
              <c:pt idx="2">
                <c:v>0.014770061516500732</c:v>
              </c:pt>
            </c:numLit>
          </c:val>
        </c:ser>
        <c:ser>
          <c:idx val="1"/>
          <c:order val="1"/>
          <c:tx>
            <c:v>Δ Recall</c:v>
          </c:tx>
          <c:spPr>
            <a:solidFill xmlns:a="http://schemas.openxmlformats.org/drawingml/2006/main">
              <a:srgbClr val="F3C94D"/>
            </a:solidFill>
          </c:spPr>
          <c:cat>
            <c:strLit>
              <c:ptCount val="3"/>
              <c:pt idx="0">
                <c:v>Gamma</c:v>
              </c:pt>
              <c:pt idx="1">
                <c:v>CLAHE</c:v>
              </c:pt>
              <c:pt idx="2">
                <c:v>E3</c:v>
              </c:pt>
            </c:strLit>
          </c:cat>
          <c:val>
            <c:numLit>
              <c:formatCode>0.00</c:formatCode>
              <c:ptCount val="3"/>
              <c:pt idx="0">
                <c:v>0.039911308203991136</c:v>
              </c:pt>
              <c:pt idx="1">
                <c:v>0.026607538802660757</c:v>
              </c:pt>
              <c:pt idx="2">
                <c:v>0.011086474501108667</c:v>
              </c:pt>
            </c:numLit>
          </c:val>
        </c:ser>
        <c:ser>
          <c:idx val="2"/>
          <c:order val="2"/>
          <c:tx>
            <c:v>Δ Precision</c:v>
          </c:tx>
          <c:spPr>
            <a:solidFill xmlns:a="http://schemas.openxmlformats.org/drawingml/2006/main">
              <a:srgbClr val="F07878"/>
            </a:solidFill>
          </c:spPr>
          <c:invertIfNegative val="0"/>
          <c:cat>
            <c:strLit>
              <c:ptCount val="3"/>
              <c:pt idx="0">
                <c:v>Gamma</c:v>
              </c:pt>
              <c:pt idx="1">
                <c:v>CLAHE</c:v>
              </c:pt>
              <c:pt idx="2">
                <c:v>E3</c:v>
              </c:pt>
            </c:strLit>
          </c:cat>
          <c:val>
            <c:numLit>
              <c:formatCode>0.00</c:formatCode>
              <c:ptCount val="3"/>
              <c:pt idx="0">
                <c:v>-0.03694154818325435</c:v>
              </c:pt>
              <c:pt idx="1">
                <c:v>-0.08403603603603604</c:v>
              </c:pt>
              <c:pt idx="2">
                <c:v>-0.001872932985204523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F4F7FA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05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  <c:max val="0.06"/>
          <c:min val="-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05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29405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07111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F4F7FA"/>
              </a:solidFill>
              <a:latin typeface="Noto Sans TC"/>
              <a:ea typeface="Noto Sans TC"/>
              <a:cs typeface="Noto Sans TC"/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3597F-81DC-4E85-A35D-32121AFD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B0 5-Fold 分割偏差與影像強化比較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0E6B0-D49F-4B1A-9186-5176E00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100 epochs 主分析，完整 OOF 基準與 Fold 0 同病例配對證據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9D09A-68D3-4E7B-97CD-54B45446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C94D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F3C94D"/>
                </a:solidFill>
                <a:latin typeface="Noto Sans TC"/>
                <a:ea typeface="Noto Sans TC"/>
                <a:cs typeface="Noto Sans TC"/>
              </a:rPr>
              <a:t>兩條證據回答不同問題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111633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81650"/>
                <a:gridCol w="5581650"/>
              </a:tblGrid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6FE8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B0-100 完整 5-fold</a:t>
                      </a:r>
                    </a:p>
                  </a:txBody>
                  <a:tcPr marL="95250" marR="95250" marT="76200" marB="76200" anchor="ctr">
                    <a:solidFill>
                      <a:srgbClr val="0C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6FE8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Fold 0 影像強化配對</a:t>
                      </a:r>
                    </a:p>
                  </a:txBody>
                  <a:tcPr marL="95250" marR="95250" marT="76200" marB="76200" anchor="ctr">
                    <a:solidFill>
                      <a:srgbClr val="0C1A2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250 例 OOF，Fold 0–4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同一批 50 例，B0、Gamma、CLAHE、E3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評估整體表現、fold 變異與失敗型態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評估影像處理後的個案與指標變化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支撐泛化基準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只支撐 Fold 0 配對結論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6DC33-1A77-44C2-A47E-CC9E4CC7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250 例與 50 例不直接混成效能差。所有主要比較使用 epoch 100。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35867-D555-422F-94AA-67A9CA9F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rPr>
              <a:t>研究設計：B0 完整 5-fold 提供全貌，Fold 0 提供公平的強化前後比較</a:t>
            </a:r>
          </a:p>
        </p:txBody>
      </p:sp>
    </p:spTree>
    <p:extLst>
      <p:ext uri="{BB962C8B-B14F-4D97-AF65-F5344CB8AC3E}">
        <p14:creationId xmlns:p14="http://schemas.microsoft.com/office/powerpoint/2010/main" val="694175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E7B07-3380-46D3-800C-377CDCA8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B0-100 完整 5-fold 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C1160-B75D-4DBE-B2F5-5EA92793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250 例 OOF；Dice 以有 GT 病灶且可計算的病例統計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67627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72591565c544f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5C507-CA07-4A79-AF80-C9ED2E38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2875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E8E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6FE8E1"/>
                </a:solidFill>
                <a:latin typeface="Noto Sans TC"/>
                <a:ea typeface="Noto Sans TC"/>
                <a:cs typeface="Noto Sans TC"/>
              </a:rPr>
              <a:t>Mean Dice</a:t>
            </a:r>
          </a:p>
          <a:p xmlns:a="http://schemas.openxmlformats.org/drawingml/2006/main">
            <a:pPr algn="l">
              <a:defRPr sz="2100" b="1">
                <a:solidFill>
                  <a:srgbClr val="6FE8E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6FE8E1"/>
                </a:solidFill>
                <a:latin typeface="Noto Sans TC"/>
                <a:ea typeface="Noto Sans TC"/>
                <a:cs typeface="Noto Sans TC"/>
              </a:rPr>
              <a:t>0.771 ± 0.216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46550-6B4E-4BDD-A0FB-324E41F1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28875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Median Dice  0.844</a:t>
            </a:r>
          </a:p>
          <a:p xmlns:a="http://schemas.openxmlformats.org/drawingml/2006/main">
            <a:pPr algn="l">
              <a:defRPr sz="16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Lesion recall  0.547</a:t>
            </a:r>
          </a:p>
          <a:p xmlns:a="http://schemas.openxmlformats.org/drawingml/2006/main">
            <a:pPr algn="l">
              <a:defRPr sz="16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Lesion precision  0.755</a:t>
            </a:r>
          </a:p>
          <a:p xmlns:a="http://schemas.openxmlformats.org/drawingml/2006/main">
            <a:pPr algn="l">
              <a:defRPr sz="16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Lesion F1  0.635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E0E00-1742-4E02-A65B-A1FB8FB8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862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C9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F3C94D"/>
                </a:solidFill>
                <a:latin typeface="Noto Sans TC"/>
                <a:ea typeface="Noto Sans TC"/>
                <a:cs typeface="Noto Sans TC"/>
              </a:rPr>
              <a:t>FP/case  1.668</a:t>
            </a:r>
          </a:p>
          <a:p xmlns:a="http://schemas.openxmlformats.org/drawingml/2006/main">
            <a:pPr algn="l">
              <a:defRPr sz="1575" b="0">
                <a:solidFill>
                  <a:srgbClr val="F3C9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F3C94D"/>
                </a:solidFill>
                <a:latin typeface="Noto Sans TC"/>
                <a:ea typeface="Noto Sans TC"/>
                <a:cs typeface="Noto Sans TC"/>
              </a:rPr>
              <a:t>FN/case  4.252</a:t>
            </a:r>
          </a:p>
          <a:p xmlns:a="http://schemas.openxmlformats.org/drawingml/2006/main">
            <a:pPr algn="l">
              <a:defRPr sz="1575" b="0">
                <a:solidFill>
                  <a:srgbClr val="F3C9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F3C94D"/>
                </a:solidFill>
                <a:latin typeface="Noto Sans TC"/>
                <a:ea typeface="Noto Sans TC"/>
                <a:cs typeface="Noto Sans TC"/>
              </a:rPr>
              <a:t>Severe under  25</a:t>
            </a:r>
          </a:p>
          <a:p xmlns:a="http://schemas.openxmlformats.org/drawingml/2006/main">
            <a:pPr algn="l">
              <a:defRPr sz="1575" b="0">
                <a:solidFill>
                  <a:srgbClr val="F3C9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F3C94D"/>
                </a:solidFill>
                <a:latin typeface="Noto Sans TC"/>
                <a:ea typeface="Noto Sans TC"/>
                <a:cs typeface="Noto Sans TC"/>
              </a:rPr>
              <a:t>Large partial 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A54C2-CA91-457D-8214-80EBA899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rPr>
              <a:t>Fold 間 Mean Dice 範圍 0.734–0.805；整體 n=250</a:t>
            </a:r>
          </a:p>
        </p:txBody>
      </p:sp>
    </p:spTree>
    <p:extLst>
      <p:ext uri="{BB962C8B-B14F-4D97-AF65-F5344CB8AC3E}">
        <p14:creationId xmlns:p14="http://schemas.microsoft.com/office/powerpoint/2010/main" val="1219060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C0789-9596-49C2-B045-2776A5B1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B0 的偏差集中在漏切與部分覆蓋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B7F57-EC3A-4730-B249-9A67F6B6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分類可重疊；右側影像為 Fold 0 B0-100 的代表性病例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095875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43379713974b4a"/>
          </a:graphicData>
        </a:graphic>
      </p:graphicFrame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cfbb8dcac4ca7"/>
          <a:srcRect xmlns:a="http://schemas.openxmlformats.org/drawingml/2006/main" l="32126" t="0" r="32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666875"/>
            <a:ext cx="1762125" cy="2190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EBB87-8B60-44C2-A4ED-3F16FA2F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case_0068</a:t>
            </a:r>
          </a:p>
          <a:p xmlns:a="http://schemas.openxmlformats.org/drawingml/2006/main">
            <a:pPr algn="ctr">
              <a:defRPr sz="120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嚴重低估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9350767b04d44"/>
          <a:srcRect xmlns:a="http://schemas.openxmlformats.org/drawingml/2006/main" l="32126" t="0" r="32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666875"/>
            <a:ext cx="1762125" cy="2190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B9CBF-01E8-496D-81A2-D4A0F929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3C9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F3C94D"/>
                </a:solidFill>
                <a:latin typeface="Noto Sans TC"/>
                <a:ea typeface="Noto Sans TC"/>
                <a:cs typeface="Noto Sans TC"/>
              </a:rPr>
              <a:t>case_0186</a:t>
            </a:r>
          </a:p>
          <a:p xmlns:a="http://schemas.openxmlformats.org/drawingml/2006/main">
            <a:pPr algn="ctr">
              <a:defRPr sz="1200" b="0">
                <a:solidFill>
                  <a:srgbClr val="F3C9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F3C94D"/>
                </a:solidFill>
                <a:latin typeface="Noto Sans TC"/>
                <a:ea typeface="Noto Sans TC"/>
                <a:cs typeface="Noto Sans TC"/>
              </a:rPr>
              <a:t>多病灶漏切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39e22de1e4eec"/>
          <a:srcRect xmlns:a="http://schemas.openxmlformats.org/drawingml/2006/main" l="32126" t="0" r="32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125" y="1666875"/>
            <a:ext cx="1762125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4C01C-1E12-4B5B-8CB7-DF96496C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case_0212</a:t>
            </a:r>
          </a:p>
          <a:p xmlns:a="http://schemas.openxmlformats.org/drawingml/2006/main">
            <a:pPr algn="ctr">
              <a:defRPr sz="120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小病灶偏差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3F5E4-3804-4965-BC4D-9274EF76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0125"/>
            <a:ext cx="5476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多病灶漏切出現在 161/250 例，是最常見標記。</a:t>
            </a:r>
          </a:p>
          <a:p xmlns:a="http://schemas.openxmlformats.org/drawingml/2006/main">
            <a:pPr algn="l">
              <a:defRPr sz="142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小病灶漏切雖較少，但通常伴隨低 Dice 與高體積低估。</a:t>
            </a:r>
          </a:p>
          <a:p xmlns:a="http://schemas.openxmlformats.org/drawingml/2006/main">
            <a:pPr algn="l">
              <a:defRPr sz="142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FP 與漏切可同時發生，單看 Dice 無法完整描述失敗。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2E195-1595-486C-A1F2-EC4F692C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rPr>
              <a:t>分類來自 B0 OOF failure_labels；同一病例可同時屬於多個失敗類型</a:t>
            </a:r>
          </a:p>
        </p:txBody>
      </p:sp>
    </p:spTree>
    <p:extLst>
      <p:ext uri="{BB962C8B-B14F-4D97-AF65-F5344CB8AC3E}">
        <p14:creationId xmlns:p14="http://schemas.microsoft.com/office/powerpoint/2010/main" val="955286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A1324-1823-4292-A4F0-A4CBA290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Fold 0 影像強化總覽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5AB84-F232-49FA-89AD-B1C6F73F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同一批 50 例、epoch 100；正值代表相對 B0 增加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419100" y="1428750"/>
          <a:ext xmlns:a="http://schemas.openxmlformats.org/drawingml/2006/main" cx="5715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4934ed8ca44c82"/>
          </a:graphicData>
        </a:graphic>
      </p:graphicFrame>
      <p:graphicFrame>
        <p:nvGraphicFramePr>
          <p:cNvPr id="10" name=""/>
          <p:cNvGraphicFramePr/>
          <p:nvPr/>
        </p:nvGraphicFramePr>
        <p:xfrm>
          <a:off xmlns:a="http://schemas.openxmlformats.org/drawingml/2006/main" x="6429375" y="1571625"/>
          <a:ext xmlns:a="http://schemas.openxmlformats.org/drawingml/2006/main" cx="528637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"/>
                <a:gridCol w="1057275"/>
                <a:gridCol w="1057275"/>
                <a:gridCol w="1057275"/>
                <a:gridCol w="1057275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FE8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方法</a:t>
                      </a:r>
                    </a:p>
                  </a:txBody>
                  <a:tcPr marL="95250" marR="95250" marT="76200" marB="76200" anchor="ctr">
                    <a:solidFill>
                      <a:srgbClr val="0C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FE8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Dice</a:t>
                      </a:r>
                    </a:p>
                  </a:txBody>
                  <a:tcPr marL="95250" marR="95250" marT="76200" marB="76200" anchor="ctr">
                    <a:solidFill>
                      <a:srgbClr val="0C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FE8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Recall</a:t>
                      </a:r>
                    </a:p>
                  </a:txBody>
                  <a:tcPr marL="95250" marR="95250" marT="76200" marB="76200" anchor="ctr">
                    <a:solidFill>
                      <a:srgbClr val="0C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FE8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Precision</a:t>
                      </a:r>
                    </a:p>
                  </a:txBody>
                  <a:tcPr marL="95250" marR="95250" marT="76200" marB="76200" anchor="ctr">
                    <a:solidFill>
                      <a:srgbClr val="0C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FE8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FP/case</a:t>
                      </a:r>
                    </a:p>
                  </a:txBody>
                  <a:tcPr marL="95250" marR="95250" marT="76200" marB="76200" anchor="ctr">
                    <a:solidFill>
                      <a:srgbClr val="0C1A2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B0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0.765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0.594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0.715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2.14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Gamma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0.784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0.634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0.678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2.72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CLAHE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0.750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0.621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0.631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3.28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E3</a:t>
                      </a:r>
                    </a:p>
                  </a:txBody>
                  <a:tcPr marL="95250" marR="95250" marT="66675" marB="66675" anchor="ctr">
                    <a:solidFill>
                      <a:srgbClr val="173A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0.779</a:t>
                      </a:r>
                    </a:p>
                  </a:txBody>
                  <a:tcPr marL="95250" marR="95250" marT="66675" marB="66675" anchor="ctr">
                    <a:solidFill>
                      <a:srgbClr val="173A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0.605</a:t>
                      </a:r>
                    </a:p>
                  </a:txBody>
                  <a:tcPr marL="95250" marR="95250" marT="66675" marB="66675" anchor="ctr">
                    <a:solidFill>
                      <a:srgbClr val="173A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0.713</a:t>
                      </a:r>
                    </a:p>
                  </a:txBody>
                  <a:tcPr marL="95250" marR="95250" marT="66675" marB="66675" anchor="ctr">
                    <a:solidFill>
                      <a:srgbClr val="173A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2.20</a:t>
                      </a:r>
                    </a:p>
                  </a:txBody>
                  <a:tcPr marL="95250" marR="95250" marT="66675" marB="66675" anchor="ctr">
                    <a:solidFill>
                      <a:srgbClr val="173A4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31495-556A-474A-8B36-0B92F1AE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C9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3C94D"/>
                </a:solidFill>
                <a:latin typeface="Noto Sans TC"/>
                <a:ea typeface="Noto Sans TC"/>
                <a:cs typeface="Noto Sans TC"/>
              </a:rPr>
              <a:t>E3 的平衡最好：Dice +0.015，Recall +0.011，Precision -0.002，FP/case +0.06。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12A34-5C2A-4545-9B5D-BC11C2BB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rPr>
              <a:t>Fold 0 n=50。這些差異不能取代完整 5-fold 強化驗證</a:t>
            </a:r>
          </a:p>
        </p:txBody>
      </p:sp>
    </p:spTree>
    <p:extLst>
      <p:ext uri="{BB962C8B-B14F-4D97-AF65-F5344CB8AC3E}">
        <p14:creationId xmlns:p14="http://schemas.microsoft.com/office/powerpoint/2010/main" val="1899582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EB9D4-20FC-48B7-8E11-270FE10E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E3 救回先前漏切的小病灶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7E695-7289-409E-B38D-732D7717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Fold 0 配對案例，GT 1.6 mL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42e66854a42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" y="1476375"/>
            <a:ext cx="8143875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4C21F-6A5F-41D6-A90B-4CD6B7E7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76375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FE8E1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6FE8E1"/>
                </a:solidFill>
                <a:latin typeface="Noto Sans TC"/>
                <a:ea typeface="Noto Sans TC"/>
                <a:cs typeface="Noto Sans TC"/>
              </a:rPr>
              <a:t>Δ Dice</a:t>
            </a:r>
          </a:p>
          <a:p xmlns:a="http://schemas.openxmlformats.org/drawingml/2006/main">
            <a:pPr algn="ctr">
              <a:defRPr sz="2325" b="1">
                <a:solidFill>
                  <a:srgbClr val="6FE8E1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6FE8E1"/>
                </a:solidFill>
                <a:latin typeface="Noto Sans TC"/>
                <a:ea typeface="Noto Sans TC"/>
                <a:cs typeface="Noto Sans TC"/>
              </a:rPr>
              <a:t>+0.560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2C147-4F57-4838-BDE7-955A0CA1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B0 / E3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FA8C0-7207-4D96-9036-9ECD1341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Dice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8576C-7B2E-4C33-A7F0-EC50D116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0.073 / 0.634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87FA0-86EA-46F7-B078-44C9823C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C5600-21FC-4EA5-9F87-95CC3A73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432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0.333 / 0.667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9FB64-9F4E-4123-BB3B-C303A2F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68CB1-82A1-4770-9D66-8C946D7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1.000 / 0.500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C1D54-BA18-4760-8FA2-3ECB83F1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FN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24A76-69A8-4709-8627-FAA8AA71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862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2 /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8A30D-8011-4302-971D-C379EDDE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FP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9D6F8-ECDB-4F64-B6E8-96980945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7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0 /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A2F44-301A-456E-BCB0-41A8247D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Dice 大幅上升且 FN 減少，但多出 2 個 FP，改善仍伴隨代價。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83E13-EA3E-415B-BBE7-F84A2FF8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rPr>
              <a:t>圖中青色為預測輪廓，黃色為 GT／重疊區域</a:t>
            </a:r>
          </a:p>
        </p:txBody>
      </p:sp>
    </p:spTree>
    <p:extLst>
      <p:ext uri="{BB962C8B-B14F-4D97-AF65-F5344CB8AC3E}">
        <p14:creationId xmlns:p14="http://schemas.microsoft.com/office/powerpoint/2010/main" val="657766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81A73-DFD4-4FF5-ABDB-AC5D1636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極小病灶的輪廓更接近 GT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A89BB-4ED1-4EEC-BF5E-AC5D6D7F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Fold 0 配對案例，GT 0.136 mL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8c16722aa48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" y="1476375"/>
            <a:ext cx="8143875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1F878-9929-4DED-85F0-A7014EBE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76375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FE8E1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6FE8E1"/>
                </a:solidFill>
                <a:latin typeface="Noto Sans TC"/>
                <a:ea typeface="Noto Sans TC"/>
                <a:cs typeface="Noto Sans TC"/>
              </a:rPr>
              <a:t>Δ Dice</a:t>
            </a:r>
          </a:p>
          <a:p xmlns:a="http://schemas.openxmlformats.org/drawingml/2006/main">
            <a:pPr algn="ctr">
              <a:defRPr sz="2325" b="1">
                <a:solidFill>
                  <a:srgbClr val="6FE8E1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6FE8E1"/>
                </a:solidFill>
                <a:latin typeface="Noto Sans TC"/>
                <a:ea typeface="Noto Sans TC"/>
                <a:cs typeface="Noto Sans TC"/>
              </a:rPr>
              <a:t>+0.174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2796A-5F8A-47C0-9035-C7A9C3F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B0 / E3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246DD-5F37-4764-9076-32206B4A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Dice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ABF88-5941-47A5-8B1C-721E6456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0.692 / 0.867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E7A4D-FA63-4737-A1FA-D9B17880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CB6DD-14A5-4056-AA93-16915527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432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1.000 / 1.000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261E3-589B-41A9-9C9E-34FBCDD4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6AE24-31F7-41ED-AC3A-7E1DF363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1.000 / 1.000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CE0EE-8C20-487F-93C6-5C184F00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FN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06398-DC66-4057-9D26-D42726D0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862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0 /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EB868-1074-460A-B47F-62BD511E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FP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C606F-E13F-4B82-936D-28D5127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7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0 /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6F463-48AB-49CF-952A-E4C758B9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0.136 mL 病灶的 Dice 從 0.692 提升至 0.867，病灶層級 Recall 與 Precision 均維持 1.0。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F4D96-F56D-43EB-AE39-E0C751F1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rPr>
              <a:t>圖中青色為預測輪廓，黃色為 GT／重疊區域</a:t>
            </a:r>
          </a:p>
        </p:txBody>
      </p:sp>
    </p:spTree>
    <p:extLst>
      <p:ext uri="{BB962C8B-B14F-4D97-AF65-F5344CB8AC3E}">
        <p14:creationId xmlns:p14="http://schemas.microsoft.com/office/powerpoint/2010/main" val="28893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6E00E-29B2-4142-9FD4-C49A39C7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強化後大型病灶的 FP 明顯增加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5A20F-1054-4E9F-B16B-34FCA91C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Fold 0 配對案例，GT 141.4 mL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26cbe9ba84c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" y="1476375"/>
            <a:ext cx="8143875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1BC13-7E1B-4C6A-8B9C-F7930626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76375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07878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F07878"/>
                </a:solidFill>
                <a:latin typeface="Noto Sans TC"/>
                <a:ea typeface="Noto Sans TC"/>
                <a:cs typeface="Noto Sans TC"/>
              </a:rPr>
              <a:t>Δ Dice</a:t>
            </a:r>
          </a:p>
          <a:p xmlns:a="http://schemas.openxmlformats.org/drawingml/2006/main">
            <a:pPr algn="ctr">
              <a:defRPr sz="2325" b="1">
                <a:solidFill>
                  <a:srgbClr val="F07878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F07878"/>
                </a:solidFill>
                <a:latin typeface="Noto Sans TC"/>
                <a:ea typeface="Noto Sans TC"/>
                <a:cs typeface="Noto Sans TC"/>
              </a:rPr>
              <a:t>-0.053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19E50-DE4E-4CC1-94ED-DFA4E9BE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B0 / E3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9D046-18BA-4DB2-9A19-13FBFC2C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Dice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8DFE5-340F-4870-B6EC-467F9CB6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0.537 / 0.484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044CE-7D0E-4DD7-93CB-82B4D17A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84AD7-3D75-4D37-9483-06883BAC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432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1.000 / 1.000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0BA47-B2CF-4C89-AABB-61E43676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E8235-8879-4E2C-944A-6E196186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0.300 / 0.136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C1E49-A504-4C96-B78E-0DF4CD99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FN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B97D9-6DC8-4F84-A85B-4AC93A7A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862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0 /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99167-F876-42E0-8944-256929BF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FP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45A08-7A40-483B-B933-F355B0B2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7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7 / 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A1BB5-D241-4B8D-89B2-62300305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病灶層級 Recall 不變，但 Precision 從 0.300 降至 0.136，FP 從 7 增加至 19。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FC69A-8295-456A-8A76-D9082A0B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rPr>
              <a:t>圖中青色為預測輪廓，黃色為 GT／重疊區域</a:t>
            </a:r>
          </a:p>
        </p:txBody>
      </p:sp>
    </p:spTree>
    <p:extLst>
      <p:ext uri="{BB962C8B-B14F-4D97-AF65-F5344CB8AC3E}">
        <p14:creationId xmlns:p14="http://schemas.microsoft.com/office/powerpoint/2010/main" val="2028478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90A0F-DEC6-485F-BB78-6945C7CC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結論與下一步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CBD61-E483-4F9F-BD68-A7CD828F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9FB2C6"/>
                </a:solidFill>
                <a:latin typeface="Noto Sans TC"/>
                <a:ea typeface="Noto Sans TC"/>
                <a:cs typeface="Noto Sans TC"/>
              </a:rPr>
              <a:t>現有證據支持個案改善，不足以宣稱完整 5-fold 泛化提升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B6D73-681D-4976-8734-9ECE61C8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E8E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6FE8E1"/>
                </a:solidFill>
                <a:latin typeface="Noto Sans TC"/>
                <a:ea typeface="Noto Sans TC"/>
                <a:cs typeface="Noto Sans TC"/>
              </a:rPr>
              <a:t>B0 5-fold 基準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1CE97-3794-41B4-84B7-31CF3631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Mean Dice 0.771，但 lesion recall 僅 0.547。</a:t>
            </a:r>
          </a:p>
          <a:p xmlns:a="http://schemas.openxmlformats.org/drawingml/2006/main">
            <a:pPr algn="l">
              <a:defRPr sz="157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25 例 severe under，漏切仍是主要風險。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FE1BE-DF55-4991-B64B-08C9586A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C9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3C94D"/>
                </a:solidFill>
                <a:latin typeface="Noto Sans TC"/>
                <a:ea typeface="Noto Sans TC"/>
                <a:cs typeface="Noto Sans TC"/>
              </a:rPr>
              <a:t>Fold 0 強化結果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C6223-88A5-4966-8CEC-7E2301E9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Gamma 提升較大但增加 FP。CLAHE 整體退步。</a:t>
            </a:r>
          </a:p>
          <a:p xmlns:a="http://schemas.openxmlformats.org/drawingml/2006/main">
            <a:pPr algn="l">
              <a:defRPr sz="157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E3-100 的 Precision 與 FP 最接近 B0，平衡最好。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3667125"/>
          <a:ext xmlns:a="http://schemas.openxmlformats.org/drawingml/2006/main" cx="106680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334000"/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FE8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下一步</a:t>
                      </a:r>
                    </a:p>
                  </a:txBody>
                  <a:tcPr marL="95250" marR="95250" marT="76200" marB="76200" anchor="ctr">
                    <a:solidFill>
                      <a:srgbClr val="0C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FE8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判定條件</a:t>
                      </a:r>
                    </a:p>
                  </a:txBody>
                  <a:tcPr marL="95250" marR="95250" marT="76200" marB="76200" anchor="ctr">
                    <a:solidFill>
                      <a:srgbClr val="0C1A2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完成 E3 Fold 1–4 的同設定驗證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確認 Dice、Recall、Precision 與 FP 的方向是否跨 folds 一致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保留 B0-100 作為主要 baseline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7F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完整 5-fold 強化結果完成前，不改寫泛化結論</a:t>
                      </a:r>
                    </a:p>
                  </a:txBody>
                  <a:tcPr marL="95250" marR="95250" marT="66675" marB="66675" anchor="ctr"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4CDD2-3710-46F2-83B5-2370956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721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F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4F7FA"/>
                </a:solidFill>
                <a:latin typeface="Noto Sans TC"/>
                <a:ea typeface="Noto Sans TC"/>
                <a:cs typeface="Noto Sans TC"/>
              </a:rPr>
              <a:t>目前可下的結論：影像強化能救回部分低對比或小病灶，但改善不一致，並可能增加 FP。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FCAAA-9438-4257-AC83-E9D0E4A3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4788F"/>
                </a:solidFill>
                <a:latin typeface="Noto Sans TC"/>
                <a:ea typeface="Noto Sans TC"/>
                <a:cs typeface="Noto Sans TC"/>
              </a:rPr>
              <a:t>主分析不含 300 或 1000 epochs；本簡報沒有執行新的模型訓練</a:t>
            </a:r>
          </a:p>
        </p:txBody>
      </p:sp>
    </p:spTree>
    <p:extLst>
      <p:ext uri="{BB962C8B-B14F-4D97-AF65-F5344CB8AC3E}">
        <p14:creationId xmlns:p14="http://schemas.microsoft.com/office/powerpoint/2010/main" val="79755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2026-09-23T02:32:35.1340000Z</dcterms:created>
  <dcterms:modified xsi:type="dcterms:W3CDTF">2026-09-23T02:32:35.1340000Z</dcterms:modified>
</coreProperties>
</file>