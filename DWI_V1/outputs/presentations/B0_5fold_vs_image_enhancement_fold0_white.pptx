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8458d5a0fa4cbd" /><Relationship Type="http://schemas.openxmlformats.org/officeDocument/2006/relationships/extended-properties" Target="/docProps/app.xml" Id="R015e71a8a2fe4175" /><Relationship Type="http://schemas.openxmlformats.org/officeDocument/2006/relationships/officeDocument" Target="/ppt/presentation.xml" Id="R89d6c5d42b9245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0809394f354a75"/>
  </p:sldMasterIdLst>
  <p:notesMasterIdLst>
    <p:notesMasterId xmlns:r="http://schemas.openxmlformats.org/officeDocument/2006/relationships" r:id="R62746c7e025046dc"/>
  </p:notesMasterIdLst>
  <p:sldIdLst>
    <p:sldId xmlns:r="http://schemas.openxmlformats.org/officeDocument/2006/relationships" id="256" r:id="Redd733b3d5434ac0"/>
    <p:sldId xmlns:r="http://schemas.openxmlformats.org/officeDocument/2006/relationships" id="257" r:id="Rb2e55c221fca415f"/>
    <p:sldId xmlns:r="http://schemas.openxmlformats.org/officeDocument/2006/relationships" id="258" r:id="Re8a3222d68984897"/>
    <p:sldId xmlns:r="http://schemas.openxmlformats.org/officeDocument/2006/relationships" id="259" r:id="Rbb6d0e9ac184493e"/>
    <p:sldId xmlns:r="http://schemas.openxmlformats.org/officeDocument/2006/relationships" id="260" r:id="R2c4015afe5ca47b6"/>
    <p:sldId xmlns:r="http://schemas.openxmlformats.org/officeDocument/2006/relationships" id="261" r:id="Rfa8e327010c94267"/>
    <p:sldId xmlns:r="http://schemas.openxmlformats.org/officeDocument/2006/relationships" id="262" r:id="Rfb9a6b990091481a"/>
    <p:sldId xmlns:r="http://schemas.openxmlformats.org/officeDocument/2006/relationships" id="263" r:id="R8f7b341d755e4b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b01de03e1d4404" /><Relationship Type="http://schemas.openxmlformats.org/officeDocument/2006/relationships/slideMaster" Target="/ppt/slideMasters/slideMaster1.xml" Id="R9d0809394f354a75" /><Relationship Type="http://schemas.openxmlformats.org/officeDocument/2006/relationships/notesMaster" Target="/ppt/notesMasters/notesMaster1.xml" Id="R62746c7e025046dc" /><Relationship Type="http://schemas.openxmlformats.org/officeDocument/2006/relationships/presProps" Target="/ppt/presProps.xml" Id="R7ac516ef87004e34" /><Relationship Type="http://schemas.openxmlformats.org/officeDocument/2006/relationships/tableStyles" Target="/ppt/tableStyles.xml" Id="R65472541bf6a480c" /><Relationship Type="http://schemas.openxmlformats.org/officeDocument/2006/relationships/slide" Target="/ppt/slides/slide1.xml" Id="Redd733b3d5434ac0" /><Relationship Type="http://schemas.openxmlformats.org/officeDocument/2006/relationships/slide" Target="/ppt/slides/slide2.xml" Id="Rb2e55c221fca415f" /><Relationship Type="http://schemas.openxmlformats.org/officeDocument/2006/relationships/slide" Target="/ppt/slides/slide3.xml" Id="Re8a3222d68984897" /><Relationship Type="http://schemas.openxmlformats.org/officeDocument/2006/relationships/slide" Target="/ppt/slides/slide4.xml" Id="Rbb6d0e9ac184493e" /><Relationship Type="http://schemas.openxmlformats.org/officeDocument/2006/relationships/slide" Target="/ppt/slides/slide5.xml" Id="R2c4015afe5ca47b6" /><Relationship Type="http://schemas.openxmlformats.org/officeDocument/2006/relationships/slide" Target="/ppt/slides/slide6.xml" Id="Rfa8e327010c94267" /><Relationship Type="http://schemas.openxmlformats.org/officeDocument/2006/relationships/slide" Target="/ppt/slides/slide7.xml" Id="Rfb9a6b990091481a" /><Relationship Type="http://schemas.openxmlformats.org/officeDocument/2006/relationships/slide" Target="/ppt/slides/slide8.xml" Id="R8f7b341d755e4b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43e40586f945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24e1ac315e46fd" /><Relationship Type="http://schemas.openxmlformats.org/officeDocument/2006/relationships/notesMaster" Target="/ppt/notesMasters/notesMaster1.xml" Id="Rac3b017f437348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1be132a3d04f98" /><Relationship Type="http://schemas.openxmlformats.org/officeDocument/2006/relationships/notesMaster" Target="/ppt/notesMasters/notesMaster1.xml" Id="Rfb94f5b7bb4d41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9c1c9904ce46f0" /><Relationship Type="http://schemas.openxmlformats.org/officeDocument/2006/relationships/notesMaster" Target="/ppt/notesMasters/notesMaster1.xml" Id="Ree673f3506b342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732eee78c34cf9" /><Relationship Type="http://schemas.openxmlformats.org/officeDocument/2006/relationships/notesMaster" Target="/ppt/notesMasters/notesMaster1.xml" Id="Rd7a5a48143344a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02387a81b242e4" /><Relationship Type="http://schemas.openxmlformats.org/officeDocument/2006/relationships/notesMaster" Target="/ppt/notesMasters/notesMaster1.xml" Id="R4b714eb1772a4f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738bbead1a4444" /><Relationship Type="http://schemas.openxmlformats.org/officeDocument/2006/relationships/notesMaster" Target="/ppt/notesMasters/notesMaster1.xml" Id="R6013bfe4c5d247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c6f9b948924059" /><Relationship Type="http://schemas.openxmlformats.org/officeDocument/2006/relationships/notesMaster" Target="/ppt/notesMasters/notesMaster1.xml" Id="R6a8132516d7048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fc2a8c991449f4" /><Relationship Type="http://schemas.openxmlformats.org/officeDocument/2006/relationships/notesMaster" Target="/ppt/notesMasters/notesMaster1.xml" Id="R5dbc4b56aec041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outputs/analysis/B0_full5fold_100/B0_100_OOF_summary.json; experiments/image_enhancement_batch_seed2022/*/metrics/screen100/summary.json. Main comparisons use 100 epochs. No 1000-epoch result is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outputs/analysis/B0_full5fold_100/B0_100_OOF_all_cases.csv and B0_100_OOF_summary.json. Fold 0 and Fold 4 each have 49 calculable Dice values because one case has no GT lesion.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Failure counts come from B0_100_OOF_all_cases.csv and may overlap. Representative images use the B0-100 column from existing E3 Fold 0 case panels: case_0068, case_0186 and case_0212.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B0_R2022_screen100 and E1/E2/E3 metrics/screen100/summary.json. Gamma: gamma=1.2. CLAHE: axial slice-wise clip=0.02, kernel 16x16. E3: mild foreground z-score intensity scaling a=0.76, b=0.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C:\Users\User\Desktop\MRI_project_v1\experiments\image_enhancement_batch_seed2022\E3_intensity_scale\case_analysis\screen100\figures\case_0182.png; paired metrics from outputs/presentations/data/Fold0_enhancement_comparison.csv.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C:\Users\User\Desktop\MRI_project_v1\experiments\image_enhancement_batch_seed2022\E3_intensity_scale\case_analysis\screen100\figures\case_0069.png; paired metrics from outputs/presentations/data/Fold0_enhancement_comparison.csv.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C:\Users\User\Desktop\MRI_project_v1\experiments\image_enhancement_batch_seed2022\E3_intensity_scale\case_analysis\screen100\figures\case_0140.png; paired metrics from outputs/presentations/data/Fold0_enhancement_comparison.csv.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 is based on B0 full 5-fold OOF results and matched Fold 0 100-epoch enhancement experiments. E3 requires Fold 1-4 training before a generalization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ed2bf1b49e46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513bccde194709" /><Relationship Type="http://schemas.openxmlformats.org/officeDocument/2006/relationships/slideLayout" Target="/ppt/slideLayouts/slideLayout1.xml" Id="Rbafac389e5d94f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fac389e5d94f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5c535eb2a247eb" /><Relationship Type="http://schemas.openxmlformats.org/officeDocument/2006/relationships/notesSlide" Target="/ppt/notesSlides/notesSlide1.xml" Id="Rea8c7053014046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8d3e605754a41" /><Relationship Type="http://schemas.openxmlformats.org/officeDocument/2006/relationships/chart" Target="/ppt/slides/charts/chart1.xml" Id="Rcf674f8c6d85483c" /><Relationship Type="http://schemas.openxmlformats.org/officeDocument/2006/relationships/notesSlide" Target="/ppt/notesSlides/notesSlide2.xml" Id="R9cc86e7d3f314b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7a3a3a9524207" /><Relationship Type="http://schemas.openxmlformats.org/officeDocument/2006/relationships/chart" Target="/ppt/slides/charts/chart2.xml" Id="Rf7e3afe29d5c4462" /><Relationship Type="http://schemas.openxmlformats.org/officeDocument/2006/relationships/image" Target="/ppt/media/image.png" Id="Re022ec2663f14c7f" /><Relationship Type="http://schemas.openxmlformats.org/officeDocument/2006/relationships/image" Target="/ppt/media/image2.png" Id="R02d228622c0747e0" /><Relationship Type="http://schemas.openxmlformats.org/officeDocument/2006/relationships/image" Target="/ppt/media/image3.png" Id="Rb4caf7e9b71c4742" /><Relationship Type="http://schemas.openxmlformats.org/officeDocument/2006/relationships/notesSlide" Target="/ppt/notesSlides/notesSlide3.xml" Id="R74ac635566534a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78f492b70f4927" /><Relationship Type="http://schemas.openxmlformats.org/officeDocument/2006/relationships/chart" Target="/ppt/slides/charts/chart3.xml" Id="R219d6c7b2c164cdc" /><Relationship Type="http://schemas.openxmlformats.org/officeDocument/2006/relationships/notesSlide" Target="/ppt/notesSlides/notesSlide4.xml" Id="Re9c432a0a3a945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0445617fb44d8" /><Relationship Type="http://schemas.openxmlformats.org/officeDocument/2006/relationships/image" Target="/ppt/media/image4.png" Id="R169767a0a17a4765" /><Relationship Type="http://schemas.openxmlformats.org/officeDocument/2006/relationships/notesSlide" Target="/ppt/notesSlides/notesSlide5.xml" Id="Ra815d5d8a6af4c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7d0014dc54c4e" /><Relationship Type="http://schemas.openxmlformats.org/officeDocument/2006/relationships/image" Target="/ppt/media/image5.png" Id="R1b99a4335a0c4c49" /><Relationship Type="http://schemas.openxmlformats.org/officeDocument/2006/relationships/notesSlide" Target="/ppt/notesSlides/notesSlide6.xml" Id="Rb7e3b5cdc6574b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4c055d09f459a" /><Relationship Type="http://schemas.openxmlformats.org/officeDocument/2006/relationships/image" Target="/ppt/media/image6.png" Id="Reb53142d05a44bca" /><Relationship Type="http://schemas.openxmlformats.org/officeDocument/2006/relationships/notesSlide" Target="/ppt/notesSlides/notesSlide7.xml" Id="R41a3bfef49764a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7b778a8e04532" /><Relationship Type="http://schemas.openxmlformats.org/officeDocument/2006/relationships/notesSlide" Target="/ppt/notesSlides/notesSlide8.xml" Id="R20b3900bb6324b9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Dice</c:v>
          </c:tx>
          <c:spPr>
            <a:solidFill xmlns:a="http://schemas.openxmlformats.org/drawingml/2006/main">
              <a:srgbClr val="118C89"/>
            </a:solidFill>
          </c:spPr>
          <c:cat>
            <c:strLit>
              <c:ptCount val="5"/>
              <c:pt idx="0">
                <c:v>Fold 0</c:v>
              </c:pt>
              <c:pt idx="1">
                <c:v>Fold 1</c:v>
              </c:pt>
              <c:pt idx="2">
                <c:v>Fold 2</c:v>
              </c:pt>
              <c:pt idx="3">
                <c:v>Fold 3</c:v>
              </c:pt>
              <c:pt idx="4">
                <c:v>Fold 4</c:v>
              </c:pt>
            </c:strLit>
          </c:cat>
          <c:val>
            <c:numLit>
              <c:formatCode>0.00</c:formatCode>
              <c:ptCount val="5"/>
              <c:pt idx="0">
                <c:v>0.764525966878894</c:v>
              </c:pt>
              <c:pt idx="1">
                <c:v>0.7854557372295141</c:v>
              </c:pt>
              <c:pt idx="2">
                <c:v>0.7633098743657928</c:v>
              </c:pt>
              <c:pt idx="3">
                <c:v>0.8051378527748392</c:v>
              </c:pt>
              <c:pt idx="4">
                <c:v>0.7340860482976804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32630"/>
                  </a:solidFill>
                  <a:latin typeface="Noto Sans TC"/>
                  <a:ea typeface="Noto Sans TC"/>
                  <a:cs typeface="Noto Sans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3DF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72768"/>
      </c:catAx>
      <c:valAx>
        <c:axId val="48672768"/>
        <c:scaling>
          <c:orientation val="minMax"/>
          <c:max val="0.82"/>
          <c:min val="0.7"/>
        </c:scaling>
        <c:delete val="0"/>
        <c:axPos val="l"/>
        <c:majorGridlines>
          <c:spPr>
            <a:ln xmlns:a="http://schemas.openxmlformats.org/drawingml/2006/main" w="9525">
              <a:solidFill>
                <a:srgbClr val="D3DFE5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3DF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50112"/>
        <c:crossBetween val="between"/>
        <c:majorUnit val="0.0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病例數</c:v>
          </c:tx>
          <c:spPr>
            <a:solidFill xmlns:a="http://schemas.openxmlformats.org/drawingml/2006/main">
              <a:srgbClr val="118C89"/>
            </a:solidFill>
          </c:spPr>
          <c:cat>
            <c:strLit>
              <c:ptCount val="6"/>
              <c:pt idx="0">
                <c:v>多病灶漏切</c:v>
              </c:pt>
              <c:pt idx="1">
                <c:v>邊界低估</c:v>
              </c:pt>
              <c:pt idx="2">
                <c:v>小病灶漏切</c:v>
              </c:pt>
              <c:pt idx="3">
                <c:v>低信心病灶</c:v>
              </c:pt>
              <c:pt idx="4">
                <c:v>FP 主導</c:v>
              </c:pt>
              <c:pt idx="5">
                <c:v>大型部分覆蓋</c:v>
              </c:pt>
            </c:strLit>
          </c:cat>
          <c:val>
            <c:numLit>
              <c:formatCode>General</c:formatCode>
              <c:ptCount val="6"/>
              <c:pt idx="0">
                <c:v>161</c:v>
              </c:pt>
              <c:pt idx="1">
                <c:v>38</c:v>
              </c:pt>
              <c:pt idx="2">
                <c:v>28</c:v>
              </c:pt>
              <c:pt idx="3">
                <c:v>11</c:v>
              </c:pt>
              <c:pt idx="4">
                <c:v>10</c:v>
              </c:pt>
              <c:pt idx="5">
                <c:v>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32630"/>
                  </a:solidFill>
                  <a:latin typeface="Noto Sans TC"/>
                  <a:ea typeface="Noto Sans TC"/>
                  <a:cs typeface="Noto Sans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Δ Dice</c:v>
          </c:tx>
          <c:spPr>
            <a:solidFill xmlns:a="http://schemas.openxmlformats.org/drawingml/2006/main">
              <a:srgbClr val="118C89"/>
            </a:solidFill>
          </c:spPr>
          <c:invertIfNegative val="0"/>
          <c:cat>
            <c:strLit>
              <c:ptCount val="3"/>
              <c:pt idx="0">
                <c:v>Gamma</c:v>
              </c:pt>
              <c:pt idx="1">
                <c:v>CLAHE</c:v>
              </c:pt>
              <c:pt idx="2">
                <c:v>E3</c:v>
              </c:pt>
            </c:strLit>
          </c:cat>
          <c:val>
            <c:numLit>
              <c:formatCode>0.00</c:formatCode>
              <c:ptCount val="3"/>
              <c:pt idx="0">
                <c:v>0.019173014299082136</c:v>
              </c:pt>
              <c:pt idx="1">
                <c:v>-0.014701798735630045</c:v>
              </c:pt>
              <c:pt idx="2">
                <c:v>0.014770061516500732</c:v>
              </c:pt>
            </c:numLit>
          </c:val>
        </c:ser>
        <c:ser>
          <c:idx val="1"/>
          <c:order val="1"/>
          <c:tx>
            <c:v>Δ Recall</c:v>
          </c:tx>
          <c:spPr>
            <a:solidFill xmlns:a="http://schemas.openxmlformats.org/drawingml/2006/main">
              <a:srgbClr val="A86C12"/>
            </a:solidFill>
          </c:spPr>
          <c:cat>
            <c:strLit>
              <c:ptCount val="3"/>
              <c:pt idx="0">
                <c:v>Gamma</c:v>
              </c:pt>
              <c:pt idx="1">
                <c:v>CLAHE</c:v>
              </c:pt>
              <c:pt idx="2">
                <c:v>E3</c:v>
              </c:pt>
            </c:strLit>
          </c:cat>
          <c:val>
            <c:numLit>
              <c:formatCode>0.00</c:formatCode>
              <c:ptCount val="3"/>
              <c:pt idx="0">
                <c:v>0.039911308203991136</c:v>
              </c:pt>
              <c:pt idx="1">
                <c:v>0.026607538802660757</c:v>
              </c:pt>
              <c:pt idx="2">
                <c:v>0.011086474501108667</c:v>
              </c:pt>
            </c:numLit>
          </c:val>
        </c:ser>
        <c:ser>
          <c:idx val="2"/>
          <c:order val="2"/>
          <c:tx>
            <c:v>Δ Precision</c:v>
          </c:tx>
          <c:spPr>
            <a:solidFill xmlns:a="http://schemas.openxmlformats.org/drawingml/2006/main">
              <a:srgbClr val="C94646"/>
            </a:solidFill>
          </c:spPr>
          <c:invertIfNegative val="0"/>
          <c:cat>
            <c:strLit>
              <c:ptCount val="3"/>
              <c:pt idx="0">
                <c:v>Gamma</c:v>
              </c:pt>
              <c:pt idx="1">
                <c:v>CLAHE</c:v>
              </c:pt>
              <c:pt idx="2">
                <c:v>E3</c:v>
              </c:pt>
            </c:strLit>
          </c:cat>
          <c:val>
            <c:numLit>
              <c:formatCode>0.00</c:formatCode>
              <c:ptCount val="3"/>
              <c:pt idx="0">
                <c:v>-0.03694154818325435</c:v>
              </c:pt>
              <c:pt idx="1">
                <c:v>-0.08403603603603604</c:v>
              </c:pt>
              <c:pt idx="2">
                <c:v>-0.001872932985204523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132630"/>
                  </a:solidFill>
                  <a:latin typeface="Noto Sans TC"/>
                  <a:ea typeface="Noto Sans TC"/>
                  <a:cs typeface="Noto Sans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3DF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72768"/>
      </c:catAx>
      <c:valAx>
        <c:axId val="48672768"/>
        <c:scaling>
          <c:orientation val="minMax"/>
          <c:max val="0.06"/>
          <c:min val="-0.1"/>
        </c:scaling>
        <c:delete val="0"/>
        <c:axPos val="l"/>
        <c:majorGridlines>
          <c:spPr>
            <a:ln xmlns:a="http://schemas.openxmlformats.org/drawingml/2006/main" w="9525">
              <a:solidFill>
                <a:srgbClr val="D3DFE5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3DF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</a:p>
        </c:txPr>
        <c:crossAx val="48650112"/>
        <c:crossBetween val="between"/>
        <c:majorUnit val="0.02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132630"/>
              </a:solidFill>
              <a:latin typeface="Noto Sans TC"/>
              <a:ea typeface="Noto Sans TC"/>
              <a:cs typeface="Noto Sans T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9563D-C703-4159-85CF-F0C0FD0C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B0 5-Fold 分割偏差與影像強化比較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D6666-822C-45B9-8B46-C878B1A0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A78"/>
                </a:solidFill>
                <a:latin typeface="Noto Sans TC"/>
                <a:ea typeface="Noto Sans TC"/>
                <a:cs typeface="Noto Sans TC"/>
              </a:rPr>
              <a:t>100 epochs 主分析，完整 OOF 基準與 Fold 0 同病例配對證據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B3F03-B5F5-4B24-AF12-FC27FA9D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86C12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A86C12"/>
                </a:solidFill>
                <a:latin typeface="Noto Sans TC"/>
                <a:ea typeface="Noto Sans TC"/>
                <a:cs typeface="Noto Sans TC"/>
              </a:rPr>
              <a:t>兩條證據回答不同問題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14350" y="1952625"/>
          <a:ext xmlns:a="http://schemas.openxmlformats.org/drawingml/2006/main" cx="111633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81650"/>
                <a:gridCol w="5581650"/>
              </a:tblGrid>
              <a:tr h="7143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7572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B0-100 完整 5-fold</a:t>
                      </a:r>
                    </a:p>
                  </a:txBody>
                  <a:tcPr marL="95250" marR="9525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087572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Fold 0 影像強化配對</a:t>
                      </a:r>
                    </a:p>
                  </a:txBody>
                  <a:tcPr marL="95250" marR="95250" marT="76200" marB="76200" anchor="ctr">
                    <a:solidFill>
                      <a:srgbClr val="F1F5F7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250 例 OOF，Fold 0–4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同一批 50 例，B0、Gamma、CLAHE、E3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評估整體表現、fold 變異與失敗型態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評估影像處理後的個案與指標變化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支撐泛化基準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只支撐 Fold 0 配對結論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5CA6DF-7CD6-45B1-B223-B8E28B03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250 例與 50 例不直接混成效能差。所有主要比較使用 epoch 100。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6D436-FD16-4F9C-A3BF-6D5A997F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838E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70838E"/>
                </a:solidFill>
                <a:latin typeface="Noto Sans TC"/>
                <a:ea typeface="Noto Sans TC"/>
                <a:cs typeface="Noto Sans TC"/>
              </a:rPr>
              <a:t>研究設計：B0 完整 5-fold 提供全貌，Fold 0 提供公平的強化前後比較</a:t>
            </a:r>
          </a:p>
        </p:txBody>
      </p:sp>
    </p:spTree>
    <p:extLst>
      <p:ext uri="{BB962C8B-B14F-4D97-AF65-F5344CB8AC3E}">
        <p14:creationId xmlns:p14="http://schemas.microsoft.com/office/powerpoint/2010/main" val="20065745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A3BA90-CCF7-4176-A566-93B880D1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B0-100 完整 5-fold 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E23F2-36EC-4721-95C1-FE799886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A78"/>
                </a:solidFill>
                <a:latin typeface="Noto Sans TC"/>
                <a:ea typeface="Noto Sans TC"/>
                <a:cs typeface="Noto Sans TC"/>
              </a:rPr>
              <a:t>250 例 OOF；Dice 以有 GT 病灶且可計算的病例統計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457200" y="1381125"/>
          <a:ext xmlns:a="http://schemas.openxmlformats.org/drawingml/2006/main" cx="676275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674f8c6d85483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38286-C032-447A-B7F4-F52A2707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428750"/>
            <a:ext cx="3429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572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087572"/>
                </a:solidFill>
                <a:latin typeface="Noto Sans TC"/>
                <a:ea typeface="Noto Sans TC"/>
                <a:cs typeface="Noto Sans TC"/>
              </a:rPr>
              <a:t>Mean Dice</a:t>
            </a:r>
          </a:p>
          <a:p xmlns:a="http://schemas.openxmlformats.org/drawingml/2006/main">
            <a:pPr algn="l">
              <a:defRPr sz="2100" b="1">
                <a:solidFill>
                  <a:srgbClr val="087572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087572"/>
                </a:solidFill>
                <a:latin typeface="Noto Sans TC"/>
                <a:ea typeface="Noto Sans TC"/>
                <a:cs typeface="Noto Sans TC"/>
              </a:rPr>
              <a:t>0.771 ± 0.216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3EDFA-9B94-4393-8F1D-2C1B3201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28875"/>
            <a:ext cx="371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Median Dice  0.844</a:t>
            </a:r>
          </a:p>
          <a:p xmlns:a="http://schemas.openxmlformats.org/drawingml/2006/main">
            <a:pPr algn="l">
              <a:defRPr sz="16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Lesion recall  0.547</a:t>
            </a:r>
          </a:p>
          <a:p xmlns:a="http://schemas.openxmlformats.org/drawingml/2006/main">
            <a:pPr algn="l">
              <a:defRPr sz="16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Lesion precision  0.755</a:t>
            </a:r>
          </a:p>
          <a:p xmlns:a="http://schemas.openxmlformats.org/drawingml/2006/main">
            <a:pPr algn="l">
              <a:defRPr sz="16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Lesion F1  0.635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668AF-6B7F-414F-859B-DA58FFE4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8625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6C12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A86C12"/>
                </a:solidFill>
                <a:latin typeface="Noto Sans TC"/>
                <a:ea typeface="Noto Sans TC"/>
                <a:cs typeface="Noto Sans TC"/>
              </a:rPr>
              <a:t>FP/case  1.668</a:t>
            </a:r>
          </a:p>
          <a:p xmlns:a="http://schemas.openxmlformats.org/drawingml/2006/main">
            <a:pPr algn="l">
              <a:defRPr sz="1575" b="0">
                <a:solidFill>
                  <a:srgbClr val="A86C12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A86C12"/>
                </a:solidFill>
                <a:latin typeface="Noto Sans TC"/>
                <a:ea typeface="Noto Sans TC"/>
                <a:cs typeface="Noto Sans TC"/>
              </a:rPr>
              <a:t>FN/case  4.252</a:t>
            </a:r>
          </a:p>
          <a:p xmlns:a="http://schemas.openxmlformats.org/drawingml/2006/main">
            <a:pPr algn="l">
              <a:defRPr sz="1575" b="0">
                <a:solidFill>
                  <a:srgbClr val="A86C12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A86C12"/>
                </a:solidFill>
                <a:latin typeface="Noto Sans TC"/>
                <a:ea typeface="Noto Sans TC"/>
                <a:cs typeface="Noto Sans TC"/>
              </a:rPr>
              <a:t>Severe under  25</a:t>
            </a:r>
          </a:p>
          <a:p xmlns:a="http://schemas.openxmlformats.org/drawingml/2006/main">
            <a:pPr algn="l">
              <a:defRPr sz="1575" b="0">
                <a:solidFill>
                  <a:srgbClr val="A86C12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A86C12"/>
                </a:solidFill>
                <a:latin typeface="Noto Sans TC"/>
                <a:ea typeface="Noto Sans TC"/>
                <a:cs typeface="Noto Sans TC"/>
              </a:rPr>
              <a:t>Large partial 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24D3D1-9AAD-4A40-A663-6FB57A79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838E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70838E"/>
                </a:solidFill>
                <a:latin typeface="Noto Sans TC"/>
                <a:ea typeface="Noto Sans TC"/>
                <a:cs typeface="Noto Sans TC"/>
              </a:rPr>
              <a:t>Fold 間 Mean Dice 範圍 0.734–0.805；整體 n=250</a:t>
            </a:r>
          </a:p>
        </p:txBody>
      </p:sp>
    </p:spTree>
    <p:extLst>
      <p:ext uri="{BB962C8B-B14F-4D97-AF65-F5344CB8AC3E}">
        <p14:creationId xmlns:p14="http://schemas.microsoft.com/office/powerpoint/2010/main" val="6750870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5DF254-8340-43EF-90B5-C24F0A9C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B0 的偏差集中在漏切與部分覆蓋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24A81-1582-436A-B915-750FE98B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A78"/>
                </a:solidFill>
                <a:latin typeface="Noto Sans TC"/>
                <a:ea typeface="Noto Sans TC"/>
                <a:cs typeface="Noto Sans TC"/>
              </a:rPr>
              <a:t>分類可重疊；右側影像為 Fold 0 B0-100 的代表性病例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400050" y="1381125"/>
          <a:ext xmlns:a="http://schemas.openxmlformats.org/drawingml/2006/main" cx="5095875" cy="4572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e3afe29d5c4462"/>
          </a:graphicData>
        </a:graphic>
      </p:graphicFrame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2ec2663f14c7f"/>
          <a:srcRect xmlns:a="http://schemas.openxmlformats.org/drawingml/2006/main" l="32126" t="0" r="321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7875" y="1666875"/>
            <a:ext cx="1762125" cy="2190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B37FD-E870-4D89-88FF-25189C8D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05250"/>
            <a:ext cx="1857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case_0068</a:t>
            </a:r>
          </a:p>
          <a:p xmlns:a="http://schemas.openxmlformats.org/drawingml/2006/main">
            <a:pPr algn="ctr">
              <a:defRPr sz="120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嚴重低估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228622c0747e0"/>
          <a:srcRect xmlns:a="http://schemas.openxmlformats.org/drawingml/2006/main" l="32126" t="0" r="321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1666875"/>
            <a:ext cx="1762125" cy="2190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FBFCA-3A17-4BD9-8A6D-1B25F2E8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05250"/>
            <a:ext cx="1857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A86C12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A86C12"/>
                </a:solidFill>
                <a:latin typeface="Noto Sans TC"/>
                <a:ea typeface="Noto Sans TC"/>
                <a:cs typeface="Noto Sans TC"/>
              </a:rPr>
              <a:t>case_0186</a:t>
            </a:r>
          </a:p>
          <a:p xmlns:a="http://schemas.openxmlformats.org/drawingml/2006/main">
            <a:pPr algn="ctr">
              <a:defRPr sz="1200" b="0">
                <a:solidFill>
                  <a:srgbClr val="A86C12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A86C12"/>
                </a:solidFill>
                <a:latin typeface="Noto Sans TC"/>
                <a:ea typeface="Noto Sans TC"/>
                <a:cs typeface="Noto Sans TC"/>
              </a:rPr>
              <a:t>多病灶漏切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caf7e9b71c4742"/>
          <a:srcRect xmlns:a="http://schemas.openxmlformats.org/drawingml/2006/main" l="32126" t="0" r="321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63125" y="1666875"/>
            <a:ext cx="1762125" cy="2190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BCB86C-8E6E-4030-971C-D1E15D6C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05250"/>
            <a:ext cx="1857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case_0212</a:t>
            </a:r>
          </a:p>
          <a:p xmlns:a="http://schemas.openxmlformats.org/drawingml/2006/main">
            <a:pPr algn="ctr">
              <a:defRPr sz="120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小病灶偏差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F05F63-923F-4B33-8517-127EF5F0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10125"/>
            <a:ext cx="547687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多病灶漏切出現在 161/250 例，是最常見標記。</a:t>
            </a:r>
          </a:p>
          <a:p xmlns:a="http://schemas.openxmlformats.org/drawingml/2006/main">
            <a:pPr algn="l">
              <a:defRPr sz="1425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小病灶漏切雖較少，但通常伴隨低 Dice 與高體積低估。</a:t>
            </a:r>
          </a:p>
          <a:p xmlns:a="http://schemas.openxmlformats.org/drawingml/2006/main">
            <a:pPr algn="l">
              <a:defRPr sz="1425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FP 與漏切可同時發生，單看 Dice 無法完整描述失敗。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3BFDD8-4A8F-4625-896B-B8651EFC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838E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70838E"/>
                </a:solidFill>
                <a:latin typeface="Noto Sans TC"/>
                <a:ea typeface="Noto Sans TC"/>
                <a:cs typeface="Noto Sans TC"/>
              </a:rPr>
              <a:t>分類來自 B0 OOF failure_labels；同一病例可同時屬於多個失敗類型</a:t>
            </a:r>
          </a:p>
        </p:txBody>
      </p:sp>
    </p:spTree>
    <p:extLst>
      <p:ext uri="{BB962C8B-B14F-4D97-AF65-F5344CB8AC3E}">
        <p14:creationId xmlns:p14="http://schemas.microsoft.com/office/powerpoint/2010/main" val="5899391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DB74E-F966-4562-A06C-FC48595F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Fold 0 影像強化總覽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9A08F-E62D-4E63-B955-CAD97C7B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A78"/>
                </a:solidFill>
                <a:latin typeface="Noto Sans TC"/>
                <a:ea typeface="Noto Sans TC"/>
                <a:cs typeface="Noto Sans TC"/>
              </a:rPr>
              <a:t>同一批 50 例、epoch 100；正值代表相對 B0 增加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419100" y="1428750"/>
          <a:ext xmlns:a="http://schemas.openxmlformats.org/drawingml/2006/main" cx="5715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9d6c7b2c164cdc"/>
          </a:graphicData>
        </a:graphic>
      </p:graphicFrame>
      <p:graphicFrame>
        <p:nvGraphicFramePr>
          <p:cNvPr id="10" name=""/>
          <p:cNvGraphicFramePr/>
          <p:nvPr/>
        </p:nvGraphicFramePr>
        <p:xfrm>
          <a:off xmlns:a="http://schemas.openxmlformats.org/drawingml/2006/main" x="6429375" y="1571625"/>
          <a:ext xmlns:a="http://schemas.openxmlformats.org/drawingml/2006/main" cx="5286375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57275"/>
                <a:gridCol w="1057275"/>
                <a:gridCol w="1057275"/>
                <a:gridCol w="1057275"/>
                <a:gridCol w="1057275"/>
              </a:tblGrid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87572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方法</a:t>
                      </a:r>
                    </a:p>
                  </a:txBody>
                  <a:tcPr marL="95250" marR="9525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87572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Dice</a:t>
                      </a:r>
                    </a:p>
                  </a:txBody>
                  <a:tcPr marL="95250" marR="9525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87572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Recall</a:t>
                      </a:r>
                    </a:p>
                  </a:txBody>
                  <a:tcPr marL="95250" marR="9525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87572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Precision</a:t>
                      </a:r>
                    </a:p>
                  </a:txBody>
                  <a:tcPr marL="95250" marR="9525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87572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FP/case</a:t>
                      </a:r>
                    </a:p>
                  </a:txBody>
                  <a:tcPr marL="95250" marR="95250" marT="76200" marB="76200" anchor="ctr">
                    <a:solidFill>
                      <a:srgbClr val="F1F5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B0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0.765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0.594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0.715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2.14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Gamma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0.784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0.634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0.678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2.72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CLAHE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0.750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0.621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0.631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3.28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E3</a:t>
                      </a:r>
                    </a:p>
                  </a:txBody>
                  <a:tcPr marL="95250" marR="95250" marT="66675" marB="66675" anchor="ctr">
                    <a:solidFill>
                      <a:srgbClr val="DC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0.779</a:t>
                      </a:r>
                    </a:p>
                  </a:txBody>
                  <a:tcPr marL="95250" marR="95250" marT="66675" marB="66675" anchor="ctr">
                    <a:solidFill>
                      <a:srgbClr val="DC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0.605</a:t>
                      </a:r>
                    </a:p>
                  </a:txBody>
                  <a:tcPr marL="95250" marR="95250" marT="66675" marB="66675" anchor="ctr">
                    <a:solidFill>
                      <a:srgbClr val="DC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0.713</a:t>
                      </a:r>
                    </a:p>
                  </a:txBody>
                  <a:tcPr marL="95250" marR="95250" marT="66675" marB="66675" anchor="ctr">
                    <a:solidFill>
                      <a:srgbClr val="DCEE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2.20</a:t>
                      </a:r>
                    </a:p>
                  </a:txBody>
                  <a:tcPr marL="95250" marR="95250" marT="66675" marB="66675" anchor="ctr">
                    <a:solidFill>
                      <a:srgbClr val="DCEEEE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FF4900-CED4-47F9-91F1-2EC67D1C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625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6C12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A86C12"/>
                </a:solidFill>
                <a:latin typeface="Noto Sans TC"/>
                <a:ea typeface="Noto Sans TC"/>
                <a:cs typeface="Noto Sans TC"/>
              </a:rPr>
              <a:t>E3 的平衡最好：Dice +0.015，Recall +0.011，Precision -0.002，FP/case +0.06。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3DA8A-7550-4148-94DD-826054B4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838E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70838E"/>
                </a:solidFill>
                <a:latin typeface="Noto Sans TC"/>
                <a:ea typeface="Noto Sans TC"/>
                <a:cs typeface="Noto Sans TC"/>
              </a:rPr>
              <a:t>Fold 0 n=50。這些差異不能取代完整 5-fold 強化驗證</a:t>
            </a:r>
          </a:p>
        </p:txBody>
      </p:sp>
    </p:spTree>
    <p:extLst>
      <p:ext uri="{BB962C8B-B14F-4D97-AF65-F5344CB8AC3E}">
        <p14:creationId xmlns:p14="http://schemas.microsoft.com/office/powerpoint/2010/main" val="3336271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100073-664D-4966-9A01-8B27A12D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E3 救回先前漏切的小病灶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85D65-D619-475B-A9BC-CA4DEAFE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A78"/>
                </a:solidFill>
                <a:latin typeface="Noto Sans TC"/>
                <a:ea typeface="Noto Sans TC"/>
                <a:cs typeface="Noto Sans TC"/>
              </a:rPr>
              <a:t>Fold 0 配對案例，GT 1.6 mL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767a0a17a476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" y="1476375"/>
            <a:ext cx="8143875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AC352-3097-41ED-B5F0-DF8F71E6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76375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87572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087572"/>
                </a:solidFill>
                <a:latin typeface="Noto Sans TC"/>
                <a:ea typeface="Noto Sans TC"/>
                <a:cs typeface="Noto Sans TC"/>
              </a:rPr>
              <a:t>Δ Dice</a:t>
            </a:r>
          </a:p>
          <a:p xmlns:a="http://schemas.openxmlformats.org/drawingml/2006/main">
            <a:pPr algn="ctr">
              <a:defRPr sz="2325" b="1">
                <a:solidFill>
                  <a:srgbClr val="087572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087572"/>
                </a:solidFill>
                <a:latin typeface="Noto Sans TC"/>
                <a:ea typeface="Noto Sans TC"/>
                <a:cs typeface="Noto Sans TC"/>
              </a:rPr>
              <a:t>+0.560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5E753-CAC0-4833-A71E-A38DEC6E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526A78"/>
                </a:solidFill>
                <a:latin typeface="Noto Sans TC"/>
                <a:ea typeface="Noto Sans TC"/>
                <a:cs typeface="Noto Sans TC"/>
              </a:rPr>
              <a:t>B0 / E3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89A81-DF1F-473D-A85E-391590B0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718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rPr>
              <a:t>Dice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D2956-80A7-4019-913B-AFB2E087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718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0.073 / 0.634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B2F4B-C76C-417C-991B-D7464411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43275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rPr>
              <a:t>Recall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D634E-E491-4ABF-B8C5-D38A544BE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432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0.333 / 0.667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CB00A-9994-497B-83C5-21C3102A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rPr>
              <a:t>Precision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C38EA-6C13-45A6-A613-C12C0B5B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14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1.000 / 0.500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D2900-62BB-43F0-8E7B-E7AAA06D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86225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rPr>
              <a:t>FN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2D9537-AC8A-4BCC-AAE7-D0E2A04E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862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2 /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1C1CA-8446-4D0C-9D72-AA9C7279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577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rPr>
              <a:t>FP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5B11BB-4183-4551-80A2-2C31459F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577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0 /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844721-067F-405D-80CC-37391D69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Dice 大幅上升且 FN 減少，但多出 2 個 FP，改善仍伴隨代價。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EB3DD6-5FEB-4DD7-AA56-90253CFE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838E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70838E"/>
                </a:solidFill>
                <a:latin typeface="Noto Sans TC"/>
                <a:ea typeface="Noto Sans TC"/>
                <a:cs typeface="Noto Sans TC"/>
              </a:rPr>
              <a:t>圖中青色為預測輪廓，黃色為 GT／重疊區域</a:t>
            </a:r>
          </a:p>
        </p:txBody>
      </p:sp>
    </p:spTree>
    <p:extLst>
      <p:ext uri="{BB962C8B-B14F-4D97-AF65-F5344CB8AC3E}">
        <p14:creationId xmlns:p14="http://schemas.microsoft.com/office/powerpoint/2010/main" val="16194221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07437F-C956-432B-B202-61689401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極小病灶的輪廓更接近 GT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4507D-5048-48E3-9ECB-FD61B447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A78"/>
                </a:solidFill>
                <a:latin typeface="Noto Sans TC"/>
                <a:ea typeface="Noto Sans TC"/>
                <a:cs typeface="Noto Sans TC"/>
              </a:rPr>
              <a:t>Fold 0 配對案例，GT 0.136 mL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9a4335a0c4c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" y="1476375"/>
            <a:ext cx="8143875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3FE7B-AFFF-4AB3-8CE9-605B679C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76375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87572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087572"/>
                </a:solidFill>
                <a:latin typeface="Noto Sans TC"/>
                <a:ea typeface="Noto Sans TC"/>
                <a:cs typeface="Noto Sans TC"/>
              </a:rPr>
              <a:t>Δ Dice</a:t>
            </a:r>
          </a:p>
          <a:p xmlns:a="http://schemas.openxmlformats.org/drawingml/2006/main">
            <a:pPr algn="ctr">
              <a:defRPr sz="2325" b="1">
                <a:solidFill>
                  <a:srgbClr val="087572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087572"/>
                </a:solidFill>
                <a:latin typeface="Noto Sans TC"/>
                <a:ea typeface="Noto Sans TC"/>
                <a:cs typeface="Noto Sans TC"/>
              </a:rPr>
              <a:t>+0.174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D06C4-0859-4773-AC60-5420A48F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526A78"/>
                </a:solidFill>
                <a:latin typeface="Noto Sans TC"/>
                <a:ea typeface="Noto Sans TC"/>
                <a:cs typeface="Noto Sans TC"/>
              </a:rPr>
              <a:t>B0 / E3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7A44E-1AA2-4FCD-964D-8066A866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718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rPr>
              <a:t>Dice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CEF477-D3E0-47A3-8D6C-CD32BEFC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718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0.692 / 0.867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385AE-7DDD-4918-A0AE-F1823062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43275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rPr>
              <a:t>Recall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FBC14D-3401-4FE9-A0B5-249AB8D2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432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1.000 / 1.000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D1350-FEA2-4C4A-BA56-9FDD3855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rPr>
              <a:t>Precision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BAC200-05F5-4765-9CBD-71003204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14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1.000 / 1.000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E2C651-C274-4878-B518-08B2EBD0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86225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rPr>
              <a:t>FN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ACB14-8313-417A-8B8F-75FA5004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862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0 /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53FAF-99A0-4D28-9098-CBEECBBC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577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rPr>
              <a:t>FP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B5474-A3C6-4CFC-AB11-9C404990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577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0 /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8C928-D2B5-4057-83B5-6A65A67D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0.136 mL 病灶的 Dice 從 0.692 提升至 0.867，病灶層級 Recall 與 Precision 均維持 1.0。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235DCB-79CE-4ECD-9A41-CF407A21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838E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70838E"/>
                </a:solidFill>
                <a:latin typeface="Noto Sans TC"/>
                <a:ea typeface="Noto Sans TC"/>
                <a:cs typeface="Noto Sans TC"/>
              </a:rPr>
              <a:t>圖中青色為預測輪廓，黃色為 GT／重疊區域</a:t>
            </a:r>
          </a:p>
        </p:txBody>
      </p:sp>
    </p:spTree>
    <p:extLst>
      <p:ext uri="{BB962C8B-B14F-4D97-AF65-F5344CB8AC3E}">
        <p14:creationId xmlns:p14="http://schemas.microsoft.com/office/powerpoint/2010/main" val="18101519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376FC6-DA1A-403D-91AE-536F75A0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強化後大型病灶的 FP 明顯增加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BBDC53-CB11-4D0A-8EA4-D41B98A8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A78"/>
                </a:solidFill>
                <a:latin typeface="Noto Sans TC"/>
                <a:ea typeface="Noto Sans TC"/>
                <a:cs typeface="Noto Sans TC"/>
              </a:rPr>
              <a:t>Fold 0 配對案例，GT 141.4 mL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3142d05a44b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" y="1476375"/>
            <a:ext cx="8143875" cy="3619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6A573B-51A3-4E88-B0BA-9E0DFE5A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76375"/>
            <a:ext cx="238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94646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C94646"/>
                </a:solidFill>
                <a:latin typeface="Noto Sans TC"/>
                <a:ea typeface="Noto Sans TC"/>
                <a:cs typeface="Noto Sans TC"/>
              </a:rPr>
              <a:t>Δ Dice</a:t>
            </a:r>
          </a:p>
          <a:p xmlns:a="http://schemas.openxmlformats.org/drawingml/2006/main">
            <a:pPr algn="ctr">
              <a:defRPr sz="2325" b="1">
                <a:solidFill>
                  <a:srgbClr val="C94646"/>
                </a:solidFill>
                <a:latin typeface="Noto Sans TC"/>
                <a:ea typeface="Noto Sans TC"/>
                <a:cs typeface="Noto Sans TC"/>
              </a:defRPr>
            </a:pPr>
            <a:r>
              <a:rPr sz="2325" b="1">
                <a:solidFill>
                  <a:srgbClr val="C94646"/>
                </a:solidFill>
                <a:latin typeface="Noto Sans TC"/>
                <a:ea typeface="Noto Sans TC"/>
                <a:cs typeface="Noto Sans TC"/>
              </a:rPr>
              <a:t>-0.053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69C2F-6EC4-4A29-98F6-90FE9CD4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526A78"/>
                </a:solidFill>
                <a:latin typeface="Noto Sans TC"/>
                <a:ea typeface="Noto Sans TC"/>
                <a:cs typeface="Noto Sans TC"/>
              </a:rPr>
              <a:t>B0 / E3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A20FB-4441-4274-8483-54D112E2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718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rPr>
              <a:t>Dice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A818FB-6BA1-47B8-BD7A-E071C549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718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0.537 / 0.484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F35AB-1D7E-4BAE-840E-84AD7EA9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43275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rPr>
              <a:t>Recall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3A54F-2360-4F4E-B9A6-406AA097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432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1.000 / 1.000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50CAD-CE0A-4D10-9362-4BE24A3CF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1475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rPr>
              <a:t>Precision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088E5-6439-4C48-BC90-667803D3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7147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0.300 / 0.136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D00F9-9E4C-472F-ABC3-D9814EAC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86225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rPr>
              <a:t>FN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CE46E7-2FE4-4B81-A9F5-7DB997A87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862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0 /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02327E-7D1E-4147-BC2B-22A3B770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577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26A78"/>
                </a:solidFill>
                <a:latin typeface="Noto Sans TC"/>
                <a:ea typeface="Noto Sans TC"/>
                <a:cs typeface="Noto Sans TC"/>
              </a:rPr>
              <a:t>FP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E8000-990C-466A-93F9-49A224ED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577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7 / 19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938F25-A19D-4CE9-B977-3D881CEE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病灶層級 Recall 不變，但 Precision 從 0.300 降至 0.136，FP 從 7 增加至 19。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E5E9B0-D320-486D-ADBE-529FDAE9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838E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70838E"/>
                </a:solidFill>
                <a:latin typeface="Noto Sans TC"/>
                <a:ea typeface="Noto Sans TC"/>
                <a:cs typeface="Noto Sans TC"/>
              </a:rPr>
              <a:t>圖中青色為預測輪廓，黃色為 GT／重疊區域</a:t>
            </a:r>
          </a:p>
        </p:txBody>
      </p:sp>
    </p:spTree>
    <p:extLst>
      <p:ext uri="{BB962C8B-B14F-4D97-AF65-F5344CB8AC3E}">
        <p14:creationId xmlns:p14="http://schemas.microsoft.com/office/powerpoint/2010/main" val="19759001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B847B4-E4F7-4DDE-8712-85F88A0C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1120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結論與下一步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E4DD8-2F0C-4CBA-B3AB-5EC9A46C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572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8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26A78"/>
                </a:solidFill>
                <a:latin typeface="Noto Sans TC"/>
                <a:ea typeface="Noto Sans TC"/>
                <a:cs typeface="Noto Sans TC"/>
              </a:rPr>
              <a:t>現有證據支持個案改善，不足以宣稱完整 5-fold 泛化提升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6B702-54D7-4295-88DF-061E4FC0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572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087572"/>
                </a:solidFill>
                <a:latin typeface="Noto Sans TC"/>
                <a:ea typeface="Noto Sans TC"/>
                <a:cs typeface="Noto Sans TC"/>
              </a:rPr>
              <a:t>B0 5-fold 基準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74225-5DFF-4E64-9C7B-7DDB1897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Mean Dice 0.771，但 lesion recall 僅 0.547。</a:t>
            </a:r>
          </a:p>
          <a:p xmlns:a="http://schemas.openxmlformats.org/drawingml/2006/main">
            <a:pPr algn="l">
              <a:defRPr sz="1575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25 例 severe under，漏切仍是主要風險。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AD406-6D44-4E21-BC12-D8837D8A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763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86C12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A86C12"/>
                </a:solidFill>
                <a:latin typeface="Noto Sans TC"/>
                <a:ea typeface="Noto Sans TC"/>
                <a:cs typeface="Noto Sans TC"/>
              </a:rPr>
              <a:t>Fold 0 強化結果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99A97-3AB4-42D2-9B71-8FFC3772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495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Gamma 提升較大但增加 FP。CLAHE 整體退步。</a:t>
            </a:r>
          </a:p>
          <a:p xmlns:a="http://schemas.openxmlformats.org/drawingml/2006/main">
            <a:pPr algn="l">
              <a:defRPr sz="1575" b="0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E3-100 的 Precision 與 FP 最接近 B0，平衡最好。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71500" y="3667125"/>
          <a:ext xmlns:a="http://schemas.openxmlformats.org/drawingml/2006/main" cx="10668000" cy="1571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5334000"/>
              </a:tblGrid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87572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下一步</a:t>
                      </a:r>
                    </a:p>
                  </a:txBody>
                  <a:tcPr marL="95250" marR="95250" marT="76200" marB="76200" anchor="ctr">
                    <a:solidFill>
                      <a:srgbClr val="F1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87572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判定條件</a:t>
                      </a:r>
                    </a:p>
                  </a:txBody>
                  <a:tcPr marL="95250" marR="95250" marT="76200" marB="76200" anchor="ctr">
                    <a:solidFill>
                      <a:srgbClr val="F1F5F7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完成 E3 Fold 1–4 的同設定驗證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確認 Dice、Recall、Precision 與 FP 的方向是否跨 folds 一致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保留 B0-100 作為主要 baseline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32630"/>
                          </a:solidFill>
                          <a:latin typeface="Noto Sans TC"/>
                          <a:ea typeface="Noto Sans TC"/>
                          <a:cs typeface="Noto Sans TC"/>
                        </a:rPr>
                        <a:t>完整 5-fold 強化結果完成前，不改寫泛化結論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C9E50-6779-4BAC-9250-C9C8003C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72125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32630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132630"/>
                </a:solidFill>
                <a:latin typeface="Noto Sans TC"/>
                <a:ea typeface="Noto Sans TC"/>
                <a:cs typeface="Noto Sans TC"/>
              </a:rPr>
              <a:t>目前可下的結論：影像強化能救回部分低對比或小病灶，但改善不一致，並可能增加 FP。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86D33-DAE1-4DF1-B7C9-61DCB540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838E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70838E"/>
                </a:solidFill>
                <a:latin typeface="Noto Sans TC"/>
                <a:ea typeface="Noto Sans TC"/>
                <a:cs typeface="Noto Sans TC"/>
              </a:rPr>
              <a:t>主分析不含 300 或 1000 epochs；本簡報沒有執行新的模型訓練</a:t>
            </a:r>
          </a:p>
        </p:txBody>
      </p:sp>
    </p:spTree>
    <p:extLst>
      <p:ext uri="{BB962C8B-B14F-4D97-AF65-F5344CB8AC3E}">
        <p14:creationId xmlns:p14="http://schemas.microsoft.com/office/powerpoint/2010/main" val="14484921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2026-09-23T02:37:52.9310000Z</dcterms:created>
  <dcterms:modified xsi:type="dcterms:W3CDTF">2026-09-23T02:37:52.9310000Z</dcterms:modified>
</coreProperties>
</file>